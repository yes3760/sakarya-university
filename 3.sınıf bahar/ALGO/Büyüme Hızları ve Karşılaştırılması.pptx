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5279F8-C8AE-4E39-A82A-1C6521CF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AE550EB-7CC4-4718-A94C-A44E19CC4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49D518E-D773-4C8F-89BA-005614C1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CF1A3ED-9815-4136-A5FB-1C948A2C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CF6A96-A281-404A-B57B-5D9099FE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4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70DA64-C3AA-456F-A0FF-3B96D4C4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FD7F47-D5CB-44A3-A5D7-55DF0776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FE210A4-B2ED-4ECB-8704-EE3644D0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7A8DF2C-2007-4BC4-8A31-EEA972C9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90D708-3955-4B2B-9B8C-8A8AC696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188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4A13A0-90FC-40B3-B2E1-13EB557A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0071E73-C94B-4FDE-911F-35F6CA11C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2FA1545-9A4A-4B28-BBDD-FDCAA653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AB1C50A-83BB-465B-8220-73B0FC2A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A2DAC6A-489E-47A2-B3B4-948F0766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778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C1DFF5-715F-41E4-9ACF-DB8F767B6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AB1EE5-D840-4570-B962-7A9B111BF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FB1004B-496E-41CC-9F97-A78ACD7B3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0BC935D-AEDD-4C2D-87B2-A163D91E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40E58FA-C831-4FAD-9435-8B25867D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8479D33-5384-470D-A6EA-5C4279ED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444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BE0019-8CC7-46BE-8F91-B355E6BE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CE4FFD1-C263-4869-89C8-9EA715604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F3FB649-766D-48C8-9081-EF4A2844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EBE2932-D3C9-4190-8D1E-B7B825B05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8E23CFF-7EF3-4AB0-BD2E-5636884A6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EA2EF6F-681B-4B16-826A-3A2D756C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C162B96-816B-4360-AA86-B69D453E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A0C62AC-2364-4372-A50F-9D15B5C8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332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8D15F3-5502-40CF-8FA1-829DCBF2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A49A08A-82F3-4071-946E-8D974EBC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B10F8C0-C222-4E0C-A564-F9082E31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EC8E477-E718-4183-9D91-60CD765E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500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05EAFD4-D1E6-4276-A1EA-DD197CBC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B0115A2-F0D1-4BE6-BFBC-2DB8D9A8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7B98A55-A36D-407E-8F8E-33259F0E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809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F9E0F5-BEAC-4575-B4D0-3F25E350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9372C6-836B-4E3C-8426-E216C1927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98066AD-DCFB-4EF5-8318-DA922B614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520DD65-5092-4E25-87A4-1F136227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1903AD3-675A-474B-82A6-F250E853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9A1F0C0-BC57-4B2D-9C26-3515A144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688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47BDBB-0B65-4D33-BB98-14C70718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8F189286-ED44-4DB9-B874-A15BCF46B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9256337-7EAE-4381-9AB8-F9AC868F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F35E333-8881-44D4-B01F-093BEA50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61FCBC4-EDB2-405A-94A7-7E469D39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DFEA40C-D797-47B7-B04A-17BC1BF5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785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36A8DD-5C9A-40D5-B839-D754256B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EA89869-2E4C-4B21-8B97-B766503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F153C52-368C-490A-9F95-7153D35C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18957C2-2EC9-430B-A717-DAAD619E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E760713-FEDC-4211-9A62-7B6C85A6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572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394558F-A4B7-4FB0-8E0F-10A96645A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4067DB0-AF15-4821-97B6-40625C56B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969488-048F-4156-B488-699242BD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2AC0573-9C2D-4AAA-BB44-B3AA19BA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B372695-159B-4008-BE10-0E6AF083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838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FAC85C3-2673-416F-AC2D-F093AC91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73D1890-4E98-4AB9-82D1-143D388EE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34327D-3B4E-47FF-8B98-20548F7076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EC8AB-C5A5-444B-9702-B356339C1297}" type="datetimeFigureOut">
              <a:rPr lang="tr-TR" smtClean="0"/>
              <a:t>11.03.2026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6419F90-887C-49EA-9DFC-7A7C6C52F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49BF187-1174-4F65-9ACB-2CEED4BA2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75423-0F4F-4CCF-8027-CCD19DB397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760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2.pn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91.pn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26" Type="http://schemas.openxmlformats.org/officeDocument/2006/relationships/image" Target="../media/image137.png"/><Relationship Id="rId3" Type="http://schemas.openxmlformats.org/officeDocument/2006/relationships/image" Target="../media/image114.png"/><Relationship Id="rId21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5" Type="http://schemas.openxmlformats.org/officeDocument/2006/relationships/image" Target="../media/image136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135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34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A20E4C-875A-424E-9A5B-63A98020B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956" y="1795848"/>
            <a:ext cx="9144000" cy="849141"/>
          </a:xfrm>
        </p:spPr>
        <p:txBody>
          <a:bodyPr>
            <a:normAutofit fontScale="90000"/>
          </a:bodyPr>
          <a:lstStyle/>
          <a:p>
            <a:r>
              <a:rPr lang="tr-TR" dirty="0"/>
              <a:t>Algoritma Analizi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86CF703-9393-4A80-9BC4-7510F3CF3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1784" y="3017150"/>
            <a:ext cx="5058032" cy="849141"/>
          </a:xfrm>
        </p:spPr>
        <p:txBody>
          <a:bodyPr>
            <a:normAutofit lnSpcReduction="10000"/>
          </a:bodyPr>
          <a:lstStyle/>
          <a:p>
            <a:r>
              <a:rPr lang="tr-TR" dirty="0"/>
              <a:t>Büyüme hızlarının karşılaştırılması</a:t>
            </a:r>
          </a:p>
          <a:p>
            <a:r>
              <a:rPr lang="tr-TR" dirty="0"/>
              <a:t>(Özet)</a:t>
            </a:r>
          </a:p>
        </p:txBody>
      </p:sp>
    </p:spTree>
    <p:extLst>
      <p:ext uri="{BB962C8B-B14F-4D97-AF65-F5344CB8AC3E}">
        <p14:creationId xmlns:p14="http://schemas.microsoft.com/office/powerpoint/2010/main" val="3727086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48779C9-F6D4-40B0-8D9E-17CFB6D6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77"/>
            <a:ext cx="3409950" cy="45053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210408D-373A-4640-A0F8-C2A4B56AB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52126"/>
            <a:ext cx="5095875" cy="422910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B6CE7B0-CA92-484C-B6E2-1A1B874D8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-25875"/>
            <a:ext cx="2895600" cy="40100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94E5DE90-7CB1-4AD4-88EB-F874026FD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545" y="4102443"/>
            <a:ext cx="3937686" cy="2511901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F58CF974-7844-4BE8-8EB6-9561B4DB9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335" y="5358393"/>
            <a:ext cx="37147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B985C44-EAC3-4652-BB3F-B1766F4B2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7" y="325395"/>
            <a:ext cx="3543300" cy="4572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D60AA42-1206-495F-B890-2BC95A29A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" y="1085077"/>
            <a:ext cx="3095625" cy="55245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CB88522-CAAC-4F57-BD59-E9DCB9A1A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67" y="1940009"/>
            <a:ext cx="2295525" cy="50482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E052F61D-3217-4EC9-8B22-A1949C855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38" y="2767012"/>
            <a:ext cx="1676400" cy="13239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2D317B8-DFBE-4588-8620-171846AB0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91" y="4232190"/>
            <a:ext cx="2657475" cy="36195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A59FA8F8-4A25-4F7D-8925-9E2621F25F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75" y="4735343"/>
            <a:ext cx="21431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47E8249-E064-4BBD-9A4F-6734BD9A8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4" y="874744"/>
            <a:ext cx="1241928" cy="739872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DF101F1F-70DE-4125-8B24-183580B650A7}"/>
              </a:ext>
            </a:extLst>
          </p:cNvPr>
          <p:cNvSpPr txBox="1"/>
          <p:nvPr/>
        </p:nvSpPr>
        <p:spPr>
          <a:xfrm>
            <a:off x="224673" y="354226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Hangisi doğrudur?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3E5E19E-9E90-4598-8B5A-F23841549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39" y="1978001"/>
            <a:ext cx="1382543" cy="1153172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446A0CFF-D400-4075-9CC5-3B68B298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39" y="4125998"/>
            <a:ext cx="1123950" cy="96202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FC814CA6-D4C5-497A-9D35-B15A7CCB4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91" y="5395912"/>
            <a:ext cx="2628900" cy="333375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81885487-E350-48AE-AEC5-AAC26803A1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301" y="376366"/>
            <a:ext cx="3095625" cy="123825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F3D58A1D-4D59-49B8-8467-DFA4B4BD9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9477" y="1555043"/>
            <a:ext cx="5095875" cy="1381125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7E0B6BB4-0C27-4EA8-9F88-7906D3D92F08}"/>
              </a:ext>
            </a:extLst>
          </p:cNvPr>
          <p:cNvSpPr txBox="1"/>
          <p:nvPr/>
        </p:nvSpPr>
        <p:spPr>
          <a:xfrm>
            <a:off x="5367726" y="1244680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eşit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1800F6B-EBE6-4639-9E8D-B7C761021530}"/>
              </a:ext>
            </a:extLst>
          </p:cNvPr>
          <p:cNvSpPr txBox="1"/>
          <p:nvPr/>
        </p:nvSpPr>
        <p:spPr>
          <a:xfrm>
            <a:off x="5247501" y="723558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Doğru</a:t>
            </a: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2FC5A2CF-E542-43BA-A810-FD8C14663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0057" y="514946"/>
            <a:ext cx="1247775" cy="91440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F19FFB0F-09D0-4682-9A13-19BB5E3CDC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7650" y="1558901"/>
            <a:ext cx="4324350" cy="838200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8F4FE596-349D-4C41-AA6E-26A90F16B8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8894" y="2497046"/>
            <a:ext cx="3362325" cy="762000"/>
          </a:xfrm>
          <a:prstGeom prst="rect">
            <a:avLst/>
          </a:prstGeom>
        </p:spPr>
      </p:pic>
      <p:sp>
        <p:nvSpPr>
          <p:cNvPr id="19" name="Metin kutusu 18">
            <a:extLst>
              <a:ext uri="{FF2B5EF4-FFF2-40B4-BE49-F238E27FC236}">
                <a16:creationId xmlns:a16="http://schemas.microsoft.com/office/drawing/2014/main" id="{AA2F8F30-9293-4256-BC61-F1E9165FD0C6}"/>
              </a:ext>
            </a:extLst>
          </p:cNvPr>
          <p:cNvSpPr txBox="1"/>
          <p:nvPr/>
        </p:nvSpPr>
        <p:spPr>
          <a:xfrm>
            <a:off x="9489913" y="626159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Doğru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D5BBA90D-5FA2-4434-9B1A-BE56BC86A563}"/>
              </a:ext>
            </a:extLst>
          </p:cNvPr>
          <p:cNvSpPr txBox="1"/>
          <p:nvPr/>
        </p:nvSpPr>
        <p:spPr>
          <a:xfrm>
            <a:off x="9625558" y="108962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eşit</a:t>
            </a: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1EC0FC81-C88F-4841-B3EC-9B3EA11719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0259" y="4881562"/>
            <a:ext cx="3190875" cy="1028700"/>
          </a:xfrm>
          <a:prstGeom prst="rect">
            <a:avLst/>
          </a:prstGeom>
        </p:spPr>
      </p:pic>
      <p:sp>
        <p:nvSpPr>
          <p:cNvPr id="23" name="Metin kutusu 22">
            <a:extLst>
              <a:ext uri="{FF2B5EF4-FFF2-40B4-BE49-F238E27FC236}">
                <a16:creationId xmlns:a16="http://schemas.microsoft.com/office/drawing/2014/main" id="{F2ED0F43-9233-4DC1-AE89-4265D848B574}"/>
              </a:ext>
            </a:extLst>
          </p:cNvPr>
          <p:cNvSpPr txBox="1"/>
          <p:nvPr/>
        </p:nvSpPr>
        <p:spPr>
          <a:xfrm>
            <a:off x="3890511" y="4422344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Hangisi doğrudur ? 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0E0352A8-1ABC-4652-9610-E16AC85CDE3B}"/>
              </a:ext>
            </a:extLst>
          </p:cNvPr>
          <p:cNvSpPr txBox="1"/>
          <p:nvPr/>
        </p:nvSpPr>
        <p:spPr>
          <a:xfrm>
            <a:off x="9418100" y="81091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Hangisi doğrudur?</a:t>
            </a:r>
          </a:p>
        </p:txBody>
      </p:sp>
      <p:pic>
        <p:nvPicPr>
          <p:cNvPr id="27" name="Resim 26">
            <a:extLst>
              <a:ext uri="{FF2B5EF4-FFF2-40B4-BE49-F238E27FC236}">
                <a16:creationId xmlns:a16="http://schemas.microsoft.com/office/drawing/2014/main" id="{EB0848F7-1D17-4940-BB50-D5E44EFD13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5894" y="4492710"/>
            <a:ext cx="2114550" cy="22860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6793F140-0E24-4C4A-B6B6-302F7C0A21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4403" y="5191124"/>
            <a:ext cx="2533650" cy="371475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817DFCEE-0914-4F32-9975-85C692A524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8350" y="5910262"/>
            <a:ext cx="2143125" cy="400050"/>
          </a:xfrm>
          <a:prstGeom prst="rect">
            <a:avLst/>
          </a:prstGeom>
        </p:spPr>
      </p:pic>
      <p:sp>
        <p:nvSpPr>
          <p:cNvPr id="32" name="Metin kutusu 31">
            <a:extLst>
              <a:ext uri="{FF2B5EF4-FFF2-40B4-BE49-F238E27FC236}">
                <a16:creationId xmlns:a16="http://schemas.microsoft.com/office/drawing/2014/main" id="{77A61659-F06D-47CD-9CA6-65EA7CD359F5}"/>
              </a:ext>
            </a:extLst>
          </p:cNvPr>
          <p:cNvSpPr txBox="1"/>
          <p:nvPr/>
        </p:nvSpPr>
        <p:spPr>
          <a:xfrm>
            <a:off x="6711134" y="5211246"/>
            <a:ext cx="142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Üçü de yanlış</a:t>
            </a:r>
          </a:p>
        </p:txBody>
      </p:sp>
    </p:spTree>
    <p:extLst>
      <p:ext uri="{BB962C8B-B14F-4D97-AF65-F5344CB8AC3E}">
        <p14:creationId xmlns:p14="http://schemas.microsoft.com/office/powerpoint/2010/main" val="147214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9" grpId="0"/>
      <p:bldP spid="20" grpId="0"/>
      <p:bldP spid="23" grpId="0"/>
      <p:bldP spid="25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4DFD82A-D7F6-44C8-BF28-8F74D880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25" y="249065"/>
            <a:ext cx="3343275" cy="1038225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11A696E6-7D0D-4179-93F3-D55B5E52457F}"/>
              </a:ext>
            </a:extLst>
          </p:cNvPr>
          <p:cNvSpPr txBox="1"/>
          <p:nvPr/>
        </p:nvSpPr>
        <p:spPr>
          <a:xfrm>
            <a:off x="3608172" y="249065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Doğru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7B94AAB-43EF-4633-AF1F-A53D403EA6BC}"/>
              </a:ext>
            </a:extLst>
          </p:cNvPr>
          <p:cNvSpPr txBox="1"/>
          <p:nvPr/>
        </p:nvSpPr>
        <p:spPr>
          <a:xfrm>
            <a:off x="3702586" y="61839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Doğru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1995AEC-C317-4479-9B98-521D5FAB9A51}"/>
              </a:ext>
            </a:extLst>
          </p:cNvPr>
          <p:cNvSpPr txBox="1"/>
          <p:nvPr/>
        </p:nvSpPr>
        <p:spPr>
          <a:xfrm>
            <a:off x="3702586" y="987729"/>
            <a:ext cx="709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Yanlış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8880A827-0108-4EE9-9929-56CFDA5B1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186" y="1357061"/>
            <a:ext cx="2057400" cy="35242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7B04929A-5A4D-4220-895A-C301A29EC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343" y="139527"/>
            <a:ext cx="2609850" cy="2295525"/>
          </a:xfrm>
          <a:prstGeom prst="rect">
            <a:avLst/>
          </a:prstGeom>
        </p:spPr>
      </p:pic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413199F8-FB7C-45D0-A02A-0653B3D58C5C}"/>
              </a:ext>
            </a:extLst>
          </p:cNvPr>
          <p:cNvCxnSpPr>
            <a:stCxn id="5" idx="3"/>
          </p:cNvCxnSpPr>
          <p:nvPr/>
        </p:nvCxnSpPr>
        <p:spPr>
          <a:xfrm>
            <a:off x="4462730" y="803063"/>
            <a:ext cx="9330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>
            <a:extLst>
              <a:ext uri="{FF2B5EF4-FFF2-40B4-BE49-F238E27FC236}">
                <a16:creationId xmlns:a16="http://schemas.microsoft.com/office/drawing/2014/main" id="{A8C0AFE0-0A3B-4892-A3C5-D94E254E2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48" y="4484216"/>
            <a:ext cx="1695450" cy="476250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A76AB284-F37E-42C4-ACCE-4AB653D0B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021" y="3717621"/>
            <a:ext cx="36957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7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26759C3-9B55-4096-9484-CFF1512B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257" y="511003"/>
            <a:ext cx="4038600" cy="561975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4E49F2A4-2BF6-4506-BE11-E3EA580AA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57" y="596986"/>
            <a:ext cx="4943475" cy="70485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3E72F25-58F4-41F4-BF2A-6A3325FA5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15" y="1629676"/>
            <a:ext cx="1609725" cy="60007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FB36995F-FEAD-49F9-A3B3-1EA2A341F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301" y="2328991"/>
            <a:ext cx="1276350" cy="45720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4D20521-D0E8-4924-A2FB-11E12F819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01" y="2885431"/>
            <a:ext cx="1504950" cy="60007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08FE61B7-7033-4CA7-BC92-1105960810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63" y="3584746"/>
            <a:ext cx="1647825" cy="61912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5D870FC4-4977-4674-AC0C-4D97BFB15D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515" y="4303111"/>
            <a:ext cx="962025" cy="276225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7747D1B6-543F-4562-BCFC-C5B31E7D3C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581" y="4730963"/>
            <a:ext cx="1295400" cy="5429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561E999B-D087-4431-BE25-2DE270BA8E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1452" y="4869075"/>
            <a:ext cx="2324100" cy="266700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E1FC3C51-BC4B-4EBC-A6E7-A5FD56048A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515" y="5526815"/>
            <a:ext cx="1581150" cy="62865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FC6EEC90-9A52-4698-8411-5010CBF0F3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1240" y="5568390"/>
            <a:ext cx="1790700" cy="457200"/>
          </a:xfrm>
          <a:prstGeom prst="rect">
            <a:avLst/>
          </a:prstGeom>
        </p:spPr>
      </p:pic>
      <p:sp>
        <p:nvSpPr>
          <p:cNvPr id="30" name="Metin kutusu 29">
            <a:extLst>
              <a:ext uri="{FF2B5EF4-FFF2-40B4-BE49-F238E27FC236}">
                <a16:creationId xmlns:a16="http://schemas.microsoft.com/office/drawing/2014/main" id="{61EC9B67-FC11-479F-8235-AEF039853DE3}"/>
              </a:ext>
            </a:extLst>
          </p:cNvPr>
          <p:cNvSpPr txBox="1"/>
          <p:nvPr/>
        </p:nvSpPr>
        <p:spPr>
          <a:xfrm>
            <a:off x="7010013" y="1117170"/>
            <a:ext cx="494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Her iki tarafın a tabanına göre logaritmasını alalım</a:t>
            </a:r>
          </a:p>
        </p:txBody>
      </p:sp>
      <p:pic>
        <p:nvPicPr>
          <p:cNvPr id="32" name="Resim 31">
            <a:extLst>
              <a:ext uri="{FF2B5EF4-FFF2-40B4-BE49-F238E27FC236}">
                <a16:creationId xmlns:a16="http://schemas.microsoft.com/office/drawing/2014/main" id="{8C39D059-BBB0-4E47-9156-097BE0EC70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2095" y="1543951"/>
            <a:ext cx="1419225" cy="685800"/>
          </a:xfrm>
          <a:prstGeom prst="rect">
            <a:avLst/>
          </a:prstGeom>
        </p:spPr>
      </p:pic>
      <p:sp>
        <p:nvSpPr>
          <p:cNvPr id="33" name="Metin kutusu 32">
            <a:extLst>
              <a:ext uri="{FF2B5EF4-FFF2-40B4-BE49-F238E27FC236}">
                <a16:creationId xmlns:a16="http://schemas.microsoft.com/office/drawing/2014/main" id="{0B8738D4-288D-4A23-8DEA-87E59001FE2B}"/>
              </a:ext>
            </a:extLst>
          </p:cNvPr>
          <p:cNvSpPr txBox="1"/>
          <p:nvPr/>
        </p:nvSpPr>
        <p:spPr>
          <a:xfrm>
            <a:off x="10115678" y="725742"/>
            <a:ext cx="82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Doğru</a:t>
            </a: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4DC05131-8393-4539-B8A4-88B9021A664B}"/>
              </a:ext>
            </a:extLst>
          </p:cNvPr>
          <p:cNvSpPr txBox="1"/>
          <p:nvPr/>
        </p:nvSpPr>
        <p:spPr>
          <a:xfrm>
            <a:off x="3574835" y="945804"/>
            <a:ext cx="82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Doğru</a:t>
            </a:r>
          </a:p>
        </p:txBody>
      </p:sp>
    </p:spTree>
    <p:extLst>
      <p:ext uri="{BB962C8B-B14F-4D97-AF65-F5344CB8AC3E}">
        <p14:creationId xmlns:p14="http://schemas.microsoft.com/office/powerpoint/2010/main" val="354751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57FB11B3-F351-493C-8461-48F8CF52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7" y="153820"/>
            <a:ext cx="6091624" cy="1878966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F0BC309D-B6EC-4086-B866-0E902D78F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3" y="2400811"/>
            <a:ext cx="5539781" cy="3865148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E46E913A-E445-45CF-A76B-15FCB544BB08}"/>
              </a:ext>
            </a:extLst>
          </p:cNvPr>
          <p:cNvSpPr txBox="1"/>
          <p:nvPr/>
        </p:nvSpPr>
        <p:spPr>
          <a:xfrm>
            <a:off x="6170141" y="133911"/>
            <a:ext cx="602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Her </a:t>
            </a:r>
            <a:r>
              <a:rPr lang="tr-TR" dirty="0" err="1"/>
              <a:t>gerçel</a:t>
            </a:r>
            <a:r>
              <a:rPr lang="tr-TR" dirty="0"/>
              <a:t> sayı t, ikililerden oluşan bir kule ile temsil edilebilir: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67DF4A8-FEBF-4A98-AB6B-0B47E2A06284}"/>
              </a:ext>
            </a:extLst>
          </p:cNvPr>
          <p:cNvSpPr txBox="1"/>
          <p:nvPr/>
        </p:nvSpPr>
        <p:spPr>
          <a:xfrm>
            <a:off x="6268995" y="2032786"/>
            <a:ext cx="614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Burada s, 1 &lt; s ≤2 koşulunu sağlayan bir </a:t>
            </a:r>
            <a:r>
              <a:rPr lang="tr-TR" dirty="0" err="1"/>
              <a:t>gerçel</a:t>
            </a:r>
            <a:r>
              <a:rPr lang="tr-TR" dirty="0"/>
              <a:t> sayıdır. Kulenin yüksekliği, bu dizideki eleman sayısıdır. 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5670F4B-0953-4CCC-86C7-D7D197D17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5789" y="791295"/>
            <a:ext cx="1480403" cy="804879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94C0E595-9D26-4EFE-AD26-CEF69A75C774}"/>
              </a:ext>
            </a:extLst>
          </p:cNvPr>
          <p:cNvSpPr txBox="1"/>
          <p:nvPr/>
        </p:nvSpPr>
        <p:spPr>
          <a:xfrm>
            <a:off x="5855795" y="6137310"/>
            <a:ext cx="614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Bunu göz önünde bulundurarak, </a:t>
            </a:r>
            <a:r>
              <a:rPr lang="tr-TR" dirty="0" err="1"/>
              <a:t>lg</a:t>
            </a:r>
            <a:r>
              <a:rPr lang="tr-TR" dirty="0"/>
              <a:t> n'nin n adet ikili kulenin yüksekliği olduğunu görmek çok kolaydır.</a:t>
            </a: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A84DFD39-C1A0-4891-B5CC-9B55C29B9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660" y="3022326"/>
            <a:ext cx="47148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2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Resim 11">
            <a:extLst>
              <a:ext uri="{FF2B5EF4-FFF2-40B4-BE49-F238E27FC236}">
                <a16:creationId xmlns:a16="http://schemas.microsoft.com/office/drawing/2014/main" id="{BCA5D68D-D3C8-4982-AF21-0AD4EEBBE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90" y="2836134"/>
            <a:ext cx="2181225" cy="361950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F5DDFA28-9D70-4744-A748-C9F61B3C83DC}"/>
              </a:ext>
            </a:extLst>
          </p:cNvPr>
          <p:cNvSpPr txBox="1"/>
          <p:nvPr/>
        </p:nvSpPr>
        <p:spPr>
          <a:xfrm>
            <a:off x="4407243" y="247135"/>
            <a:ext cx="140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ÖRNEKLER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ED82001-15AA-4631-AA34-B4FD322C1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1" y="931518"/>
            <a:ext cx="1714500" cy="4476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BA08310B-114B-4CF8-B77B-066C6CFDA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259" y="814901"/>
            <a:ext cx="3371850" cy="46672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1DBA13E9-DA12-4220-840D-6E53EE51E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530" y="1024451"/>
            <a:ext cx="371475" cy="25717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AE0A8DD0-D2AE-4CB4-9609-F47F6CF15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205" y="2883759"/>
            <a:ext cx="304800" cy="266700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364CDC07-55FF-41DF-9210-BBA055C67DD2}"/>
              </a:ext>
            </a:extLst>
          </p:cNvPr>
          <p:cNvSpPr txBox="1"/>
          <p:nvPr/>
        </p:nvSpPr>
        <p:spPr>
          <a:xfrm>
            <a:off x="3245708" y="2828752"/>
            <a:ext cx="348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Her iki tarafın logaritması alınırsa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4BC04C06-5E17-439D-A351-23ECC3ED5D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890" y="3445604"/>
            <a:ext cx="2695575" cy="42862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BA8660B8-2699-4086-BD56-7539020340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005" y="3979518"/>
            <a:ext cx="4124325" cy="44767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5735CAAA-1591-474E-85C9-170C89794B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6240" y="4551017"/>
            <a:ext cx="3600450" cy="40005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A6F272EA-E5EF-4901-8A28-66EB72B5D4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0359" y="5074891"/>
            <a:ext cx="1771650" cy="4286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6C505ACB-8A7D-4B79-9120-28F593FEFF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1205" y="5627855"/>
            <a:ext cx="2019300" cy="58102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EA670945-50F6-4C8B-BDA4-43C4CFB8BB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1753" y="618526"/>
            <a:ext cx="1914525" cy="43815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0524A365-52A7-4020-B41F-EC463DCB84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2813" y="1153038"/>
            <a:ext cx="3133725" cy="47625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30DF1323-D988-4CE5-8A35-0A8DF634456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9675" y="704251"/>
            <a:ext cx="285750" cy="266700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ADD7F6BB-F484-4EF5-93D8-5A3CF90D1B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2995" y="2483709"/>
            <a:ext cx="1447800" cy="400050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2C5BCCF8-886B-415B-ABA8-C839F1C1BD3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64430" y="3040448"/>
            <a:ext cx="1428750" cy="866775"/>
          </a:xfrm>
          <a:prstGeom prst="rect">
            <a:avLst/>
          </a:prstGeom>
        </p:spPr>
      </p:pic>
      <p:pic>
        <p:nvPicPr>
          <p:cNvPr id="35" name="Resim 34">
            <a:extLst>
              <a:ext uri="{FF2B5EF4-FFF2-40B4-BE49-F238E27FC236}">
                <a16:creationId xmlns:a16="http://schemas.microsoft.com/office/drawing/2014/main" id="{7F047672-6A56-44B3-BB67-55E4FEFE45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0228" y="3150458"/>
            <a:ext cx="1295400" cy="800100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832C0229-E26B-4ACE-A14F-BBC61CA42AD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55628" y="3096523"/>
            <a:ext cx="2238375" cy="838200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CD37D5CA-5CD4-40B6-9054-3ECB1D8D7EF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96707" y="2552054"/>
            <a:ext cx="276225" cy="238125"/>
          </a:xfrm>
          <a:prstGeom prst="rect">
            <a:avLst/>
          </a:prstGeom>
        </p:spPr>
      </p:pic>
      <p:pic>
        <p:nvPicPr>
          <p:cNvPr id="41" name="Resim 40">
            <a:extLst>
              <a:ext uri="{FF2B5EF4-FFF2-40B4-BE49-F238E27FC236}">
                <a16:creationId xmlns:a16="http://schemas.microsoft.com/office/drawing/2014/main" id="{22728666-3D80-4B85-845F-F388826021A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07928" y="4374799"/>
            <a:ext cx="1419225" cy="466725"/>
          </a:xfrm>
          <a:prstGeom prst="rect">
            <a:avLst/>
          </a:prstGeom>
        </p:spPr>
      </p:pic>
      <p:pic>
        <p:nvPicPr>
          <p:cNvPr id="43" name="Resim 42">
            <a:extLst>
              <a:ext uri="{FF2B5EF4-FFF2-40B4-BE49-F238E27FC236}">
                <a16:creationId xmlns:a16="http://schemas.microsoft.com/office/drawing/2014/main" id="{CACDA350-668B-4EA3-BE97-2D9DC5A61A9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6043099"/>
            <a:ext cx="1352550" cy="514350"/>
          </a:xfrm>
          <a:prstGeom prst="rect">
            <a:avLst/>
          </a:prstGeom>
        </p:spPr>
      </p:pic>
      <p:pic>
        <p:nvPicPr>
          <p:cNvPr id="45" name="Resim 44">
            <a:extLst>
              <a:ext uri="{FF2B5EF4-FFF2-40B4-BE49-F238E27FC236}">
                <a16:creationId xmlns:a16="http://schemas.microsoft.com/office/drawing/2014/main" id="{692C5528-CD94-4406-B240-AEEB4E1D45F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54766" y="5709724"/>
            <a:ext cx="1724025" cy="847725"/>
          </a:xfrm>
          <a:prstGeom prst="rect">
            <a:avLst/>
          </a:prstGeom>
        </p:spPr>
      </p:pic>
      <p:pic>
        <p:nvPicPr>
          <p:cNvPr id="47" name="Resim 46">
            <a:extLst>
              <a:ext uri="{FF2B5EF4-FFF2-40B4-BE49-F238E27FC236}">
                <a16:creationId xmlns:a16="http://schemas.microsoft.com/office/drawing/2014/main" id="{2DEBA67B-EA9B-4339-BF77-1A6EC12692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84325" y="5704962"/>
            <a:ext cx="2076450" cy="781050"/>
          </a:xfrm>
          <a:prstGeom prst="rect">
            <a:avLst/>
          </a:prstGeom>
        </p:spPr>
      </p:pic>
      <p:pic>
        <p:nvPicPr>
          <p:cNvPr id="49" name="Resim 48">
            <a:extLst>
              <a:ext uri="{FF2B5EF4-FFF2-40B4-BE49-F238E27FC236}">
                <a16:creationId xmlns:a16="http://schemas.microsoft.com/office/drawing/2014/main" id="{E7038CE2-BF49-41C4-915C-29FDD57D18E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44564" y="6176449"/>
            <a:ext cx="2857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70EBFBB-0A14-4936-A28E-87CD19BB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27" y="419100"/>
            <a:ext cx="2133600" cy="533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33FD7826-E10E-437C-98C6-673E8CEC73E0}"/>
              </a:ext>
            </a:extLst>
          </p:cNvPr>
          <p:cNvSpPr txBox="1"/>
          <p:nvPr/>
        </p:nvSpPr>
        <p:spPr>
          <a:xfrm>
            <a:off x="2751437" y="510746"/>
            <a:ext cx="328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Heriki</a:t>
            </a:r>
            <a:r>
              <a:rPr lang="tr-TR" dirty="0"/>
              <a:t> tarafın logaritması alınırsa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2799C58-F2E3-48B5-B3EF-0840D0683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" y="1470068"/>
            <a:ext cx="3124200" cy="52387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63623A16-40C7-4998-8EF2-4FFEE0611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2" y="2397597"/>
            <a:ext cx="2781300" cy="130492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1A22E995-137E-4AC0-9FC7-3EB4B35DD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67" y="1612942"/>
            <a:ext cx="257175" cy="2381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11E5EAA9-83D4-4C40-B4E0-0877AD8F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66" y="553994"/>
            <a:ext cx="257175" cy="23812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1DA6923A-95A8-40C7-9D26-4969984C41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905" y="419100"/>
            <a:ext cx="2486025" cy="514350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BB47C2FD-8AE0-4C48-A802-8E3D34CBD1ED}"/>
              </a:ext>
            </a:extLst>
          </p:cNvPr>
          <p:cNvSpPr txBox="1"/>
          <p:nvPr/>
        </p:nvSpPr>
        <p:spPr>
          <a:xfrm>
            <a:off x="7298725" y="952500"/>
            <a:ext cx="3204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Heriki</a:t>
            </a:r>
            <a:r>
              <a:rPr lang="tr-TR" dirty="0"/>
              <a:t> tarafın logaritması alınırsa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ADD0D0D2-E76C-4707-9D21-0898F9BE7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785" y="1346242"/>
            <a:ext cx="2105025" cy="5048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A5DEFC35-765E-416C-8E61-4ED6101C82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4823" y="1384342"/>
            <a:ext cx="2114550" cy="46672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23A388CF-24C2-4AEA-B146-6880F6AABB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4179" y="1541504"/>
            <a:ext cx="295275" cy="190500"/>
          </a:xfrm>
          <a:prstGeom prst="rect">
            <a:avLst/>
          </a:prstGeom>
        </p:spPr>
      </p:pic>
      <p:pic>
        <p:nvPicPr>
          <p:cNvPr id="26" name="Resim 25">
            <a:extLst>
              <a:ext uri="{FF2B5EF4-FFF2-40B4-BE49-F238E27FC236}">
                <a16:creationId xmlns:a16="http://schemas.microsoft.com/office/drawing/2014/main" id="{A59C8367-3A78-4EFF-9B5C-A9F3C9D071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3279" y="637578"/>
            <a:ext cx="295275" cy="190500"/>
          </a:xfrm>
          <a:prstGeom prst="rect">
            <a:avLst/>
          </a:prstGeom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387CD6E2-8D2E-4995-82C9-28586B3D67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1510" y="2811934"/>
            <a:ext cx="2514600" cy="476250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E6B704E2-C244-40DD-B4D4-BC8274C7C7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84395" y="2955406"/>
            <a:ext cx="247650" cy="266700"/>
          </a:xfrm>
          <a:prstGeom prst="rect">
            <a:avLst/>
          </a:prstGeom>
        </p:spPr>
      </p:pic>
      <p:pic>
        <p:nvPicPr>
          <p:cNvPr id="32" name="Resim 31">
            <a:extLst>
              <a:ext uri="{FF2B5EF4-FFF2-40B4-BE49-F238E27FC236}">
                <a16:creationId xmlns:a16="http://schemas.microsoft.com/office/drawing/2014/main" id="{0507B259-B84A-4B81-8023-9E767E2FB9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0179" y="3502497"/>
            <a:ext cx="1819275" cy="400050"/>
          </a:xfrm>
          <a:prstGeom prst="rect">
            <a:avLst/>
          </a:prstGeom>
        </p:spPr>
      </p:pic>
      <p:pic>
        <p:nvPicPr>
          <p:cNvPr id="34" name="Resim 33">
            <a:extLst>
              <a:ext uri="{FF2B5EF4-FFF2-40B4-BE49-F238E27FC236}">
                <a16:creationId xmlns:a16="http://schemas.microsoft.com/office/drawing/2014/main" id="{476C6985-4F9C-4A54-B19A-55BD5966AD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8167" y="3496319"/>
            <a:ext cx="1409700" cy="371475"/>
          </a:xfrm>
          <a:prstGeom prst="rect">
            <a:avLst/>
          </a:prstGeom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A70B8C06-064D-484E-A002-A945E23E3F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5121" y="3867794"/>
            <a:ext cx="1762125" cy="438150"/>
          </a:xfrm>
          <a:prstGeom prst="rect">
            <a:avLst/>
          </a:prstGeom>
        </p:spPr>
      </p:pic>
      <p:pic>
        <p:nvPicPr>
          <p:cNvPr id="38" name="Resim 37">
            <a:extLst>
              <a:ext uri="{FF2B5EF4-FFF2-40B4-BE49-F238E27FC236}">
                <a16:creationId xmlns:a16="http://schemas.microsoft.com/office/drawing/2014/main" id="{041595FD-5C09-462E-987A-DF3A592CAF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6543" y="3982094"/>
            <a:ext cx="247650" cy="209550"/>
          </a:xfrm>
          <a:prstGeom prst="rect">
            <a:avLst/>
          </a:prstGeom>
        </p:spPr>
      </p:pic>
      <p:sp>
        <p:nvSpPr>
          <p:cNvPr id="46" name="Metin kutusu 45">
            <a:extLst>
              <a:ext uri="{FF2B5EF4-FFF2-40B4-BE49-F238E27FC236}">
                <a16:creationId xmlns:a16="http://schemas.microsoft.com/office/drawing/2014/main" id="{581F873C-2447-4896-AE0D-B1A8B429331B}"/>
              </a:ext>
            </a:extLst>
          </p:cNvPr>
          <p:cNvSpPr txBox="1"/>
          <p:nvPr/>
        </p:nvSpPr>
        <p:spPr>
          <a:xfrm>
            <a:off x="3389871" y="4235578"/>
            <a:ext cx="3220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Heriki</a:t>
            </a:r>
            <a:r>
              <a:rPr lang="tr-TR" dirty="0"/>
              <a:t> tarafın logaritması alınırsa</a:t>
            </a:r>
          </a:p>
        </p:txBody>
      </p:sp>
      <p:pic>
        <p:nvPicPr>
          <p:cNvPr id="48" name="Resim 47">
            <a:extLst>
              <a:ext uri="{FF2B5EF4-FFF2-40B4-BE49-F238E27FC236}">
                <a16:creationId xmlns:a16="http://schemas.microsoft.com/office/drawing/2014/main" id="{6C8C00CD-41F3-411C-8532-78F934A948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8739" y="4604910"/>
            <a:ext cx="1409700" cy="352425"/>
          </a:xfrm>
          <a:prstGeom prst="rect">
            <a:avLst/>
          </a:prstGeom>
        </p:spPr>
      </p:pic>
      <p:pic>
        <p:nvPicPr>
          <p:cNvPr id="50" name="Resim 49">
            <a:extLst>
              <a:ext uri="{FF2B5EF4-FFF2-40B4-BE49-F238E27FC236}">
                <a16:creationId xmlns:a16="http://schemas.microsoft.com/office/drawing/2014/main" id="{9F658E56-E050-4B7C-B34F-16BFC31E8D9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94766" y="4638418"/>
            <a:ext cx="790575" cy="304800"/>
          </a:xfrm>
          <a:prstGeom prst="rect">
            <a:avLst/>
          </a:prstGeom>
        </p:spPr>
      </p:pic>
      <p:pic>
        <p:nvPicPr>
          <p:cNvPr id="51" name="Resim 50">
            <a:extLst>
              <a:ext uri="{FF2B5EF4-FFF2-40B4-BE49-F238E27FC236}">
                <a16:creationId xmlns:a16="http://schemas.microsoft.com/office/drawing/2014/main" id="{6696D635-6A3A-4B52-B520-E61FECDEDD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1884" y="4604910"/>
            <a:ext cx="1819275" cy="400050"/>
          </a:xfrm>
          <a:prstGeom prst="rect">
            <a:avLst/>
          </a:prstGeom>
        </p:spPr>
      </p:pic>
      <p:pic>
        <p:nvPicPr>
          <p:cNvPr id="53" name="Resim 52">
            <a:extLst>
              <a:ext uri="{FF2B5EF4-FFF2-40B4-BE49-F238E27FC236}">
                <a16:creationId xmlns:a16="http://schemas.microsoft.com/office/drawing/2014/main" id="{B3B082D3-F323-4954-A2E4-8E2692C8C7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36864" y="5080088"/>
            <a:ext cx="933450" cy="352425"/>
          </a:xfrm>
          <a:prstGeom prst="rect">
            <a:avLst/>
          </a:prstGeom>
        </p:spPr>
      </p:pic>
      <p:pic>
        <p:nvPicPr>
          <p:cNvPr id="55" name="Resim 54">
            <a:extLst>
              <a:ext uri="{FF2B5EF4-FFF2-40B4-BE49-F238E27FC236}">
                <a16:creationId xmlns:a16="http://schemas.microsoft.com/office/drawing/2014/main" id="{CE27BD52-A946-4C92-9D33-0344C2AED27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37560" y="5687713"/>
            <a:ext cx="981075" cy="342900"/>
          </a:xfrm>
          <a:prstGeom prst="rect">
            <a:avLst/>
          </a:prstGeom>
        </p:spPr>
      </p:pic>
      <p:pic>
        <p:nvPicPr>
          <p:cNvPr id="56" name="Resim 55">
            <a:extLst>
              <a:ext uri="{FF2B5EF4-FFF2-40B4-BE49-F238E27FC236}">
                <a16:creationId xmlns:a16="http://schemas.microsoft.com/office/drawing/2014/main" id="{D1032A22-9B1B-4F48-9516-47E0BF9FDE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90854" y="5706763"/>
            <a:ext cx="790575" cy="304800"/>
          </a:xfrm>
          <a:prstGeom prst="rect">
            <a:avLst/>
          </a:prstGeom>
        </p:spPr>
      </p:pic>
      <p:pic>
        <p:nvPicPr>
          <p:cNvPr id="58" name="Resim 57">
            <a:extLst>
              <a:ext uri="{FF2B5EF4-FFF2-40B4-BE49-F238E27FC236}">
                <a16:creationId xmlns:a16="http://schemas.microsoft.com/office/drawing/2014/main" id="{6C54DA04-9614-4517-B673-3B7F240C202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8104" y="5677151"/>
            <a:ext cx="2886075" cy="895350"/>
          </a:xfrm>
          <a:prstGeom prst="rect">
            <a:avLst/>
          </a:prstGeom>
        </p:spPr>
      </p:pic>
      <p:pic>
        <p:nvPicPr>
          <p:cNvPr id="60" name="Resim 59">
            <a:extLst>
              <a:ext uri="{FF2B5EF4-FFF2-40B4-BE49-F238E27FC236}">
                <a16:creationId xmlns:a16="http://schemas.microsoft.com/office/drawing/2014/main" id="{7518F5ED-3E25-4EEE-88FE-4B77250DF4E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2045" y="5672568"/>
            <a:ext cx="2628900" cy="762000"/>
          </a:xfrm>
          <a:prstGeom prst="rect">
            <a:avLst/>
          </a:prstGeom>
        </p:spPr>
      </p:pic>
      <p:pic>
        <p:nvPicPr>
          <p:cNvPr id="62" name="Resim 61">
            <a:extLst>
              <a:ext uri="{FF2B5EF4-FFF2-40B4-BE49-F238E27FC236}">
                <a16:creationId xmlns:a16="http://schemas.microsoft.com/office/drawing/2014/main" id="{B8B6E29B-C7A4-4EC5-B010-2B9B8586453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8610" y="5821835"/>
            <a:ext cx="266700" cy="200025"/>
          </a:xfrm>
          <a:prstGeom prst="rect">
            <a:avLst/>
          </a:prstGeom>
        </p:spPr>
      </p:pic>
      <p:pic>
        <p:nvPicPr>
          <p:cNvPr id="64" name="Resim 63">
            <a:extLst>
              <a:ext uri="{FF2B5EF4-FFF2-40B4-BE49-F238E27FC236}">
                <a16:creationId xmlns:a16="http://schemas.microsoft.com/office/drawing/2014/main" id="{88D13506-CB24-48A2-ADC4-70050D7166F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1610" y="6367713"/>
            <a:ext cx="3981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3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C1DD468-4993-4467-98C6-FFB160F38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5" y="63428"/>
            <a:ext cx="2223315" cy="464977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5270C25-3D55-4C92-92EE-63DDB6B0C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458" y="626976"/>
            <a:ext cx="4238625" cy="54292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A0F83DF4-8FB8-41B6-AEF6-0BD72DCD5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82" y="1169901"/>
            <a:ext cx="1323975" cy="3714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9F641951-FBC5-4E51-9B78-02231153A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420" y="122151"/>
            <a:ext cx="1790700" cy="4667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718AA332-CA9E-4132-B6A2-CD71E612A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1907" y="225122"/>
            <a:ext cx="257175" cy="29527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65B9446E-C473-4F47-BF28-A35B989CE3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9900" y="3313671"/>
            <a:ext cx="2495550" cy="60960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B40001A5-C739-491E-9DAD-82B96E956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9308" y="3483836"/>
            <a:ext cx="266700" cy="28575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A6830ADA-CBC4-4478-BE48-F0C33F03A9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1595" y="3923271"/>
            <a:ext cx="1762125" cy="47625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EDD0C607-D3F4-4443-A427-C5F03C3A42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644" y="4413167"/>
            <a:ext cx="4010025" cy="60007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F0AA4F06-4994-4114-98F6-DC7C606929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3049" y="5209791"/>
            <a:ext cx="2105025" cy="48577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06007739-D0A9-4217-AFAB-E38A6F416D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2506" y="5983374"/>
            <a:ext cx="2400300" cy="49530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71460863-8761-4520-A61E-F91D65BBA8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9631" y="210707"/>
            <a:ext cx="2009775" cy="48577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5041677F-2400-473E-A043-5E58E0669F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06494" y="392441"/>
            <a:ext cx="266700" cy="257175"/>
          </a:xfrm>
          <a:prstGeom prst="rect">
            <a:avLst/>
          </a:prstGeom>
        </p:spPr>
      </p:pic>
      <p:sp>
        <p:nvSpPr>
          <p:cNvPr id="30" name="Metin kutusu 29">
            <a:extLst>
              <a:ext uri="{FF2B5EF4-FFF2-40B4-BE49-F238E27FC236}">
                <a16:creationId xmlns:a16="http://schemas.microsoft.com/office/drawing/2014/main" id="{9283CB7C-978A-4E5C-A0C0-FD2C569BCEEA}"/>
              </a:ext>
            </a:extLst>
          </p:cNvPr>
          <p:cNvSpPr txBox="1"/>
          <p:nvPr/>
        </p:nvSpPr>
        <p:spPr>
          <a:xfrm>
            <a:off x="9127525" y="878216"/>
            <a:ext cx="323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Heriki</a:t>
            </a:r>
            <a:r>
              <a:rPr lang="tr-TR" dirty="0"/>
              <a:t> tarafta logaritma alalım</a:t>
            </a:r>
          </a:p>
        </p:txBody>
      </p:sp>
      <p:pic>
        <p:nvPicPr>
          <p:cNvPr id="32" name="Resim 31">
            <a:extLst>
              <a:ext uri="{FF2B5EF4-FFF2-40B4-BE49-F238E27FC236}">
                <a16:creationId xmlns:a16="http://schemas.microsoft.com/office/drawing/2014/main" id="{CED1B8A9-B2E3-4247-B37F-24A9FCDDEA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61083" y="1551230"/>
            <a:ext cx="1076325" cy="381000"/>
          </a:xfrm>
          <a:prstGeom prst="rect">
            <a:avLst/>
          </a:prstGeom>
        </p:spPr>
      </p:pic>
      <p:pic>
        <p:nvPicPr>
          <p:cNvPr id="34" name="Resim 33">
            <a:extLst>
              <a:ext uri="{FF2B5EF4-FFF2-40B4-BE49-F238E27FC236}">
                <a16:creationId xmlns:a16="http://schemas.microsoft.com/office/drawing/2014/main" id="{B121DFD9-2D39-4094-B3E2-31FC3B3632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400" y="1489388"/>
            <a:ext cx="2895600" cy="419100"/>
          </a:xfrm>
          <a:prstGeom prst="rect">
            <a:avLst/>
          </a:prstGeom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B8318E67-E3B0-495C-9586-2D9A672E7E3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58694" y="1993165"/>
            <a:ext cx="1714500" cy="314325"/>
          </a:xfrm>
          <a:prstGeom prst="rect">
            <a:avLst/>
          </a:prstGeom>
        </p:spPr>
      </p:pic>
      <p:pic>
        <p:nvPicPr>
          <p:cNvPr id="38" name="Resim 37">
            <a:extLst>
              <a:ext uri="{FF2B5EF4-FFF2-40B4-BE49-F238E27FC236}">
                <a16:creationId xmlns:a16="http://schemas.microsoft.com/office/drawing/2014/main" id="{C38496B6-0DE2-4808-B1EF-1207743630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5616" y="2655416"/>
            <a:ext cx="3362325" cy="476250"/>
          </a:xfrm>
          <a:prstGeom prst="rect">
            <a:avLst/>
          </a:prstGeom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F932FCB2-E01B-424E-BB61-4A5559973BA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39500" y="2655416"/>
            <a:ext cx="952500" cy="323850"/>
          </a:xfrm>
          <a:prstGeom prst="rect">
            <a:avLst/>
          </a:prstGeom>
        </p:spPr>
      </p:pic>
      <p:pic>
        <p:nvPicPr>
          <p:cNvPr id="42" name="Resim 41">
            <a:extLst>
              <a:ext uri="{FF2B5EF4-FFF2-40B4-BE49-F238E27FC236}">
                <a16:creationId xmlns:a16="http://schemas.microsoft.com/office/drawing/2014/main" id="{B72DED4A-6243-4EAF-BE78-EBF6BEEAA90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29637" y="3371139"/>
            <a:ext cx="1533525" cy="476250"/>
          </a:xfrm>
          <a:prstGeom prst="rect">
            <a:avLst/>
          </a:prstGeom>
        </p:spPr>
      </p:pic>
      <p:pic>
        <p:nvPicPr>
          <p:cNvPr id="44" name="Resim 43">
            <a:extLst>
              <a:ext uri="{FF2B5EF4-FFF2-40B4-BE49-F238E27FC236}">
                <a16:creationId xmlns:a16="http://schemas.microsoft.com/office/drawing/2014/main" id="{B5EC4248-91F6-4DC1-8DD9-88002829D95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29637" y="4150456"/>
            <a:ext cx="2286000" cy="466725"/>
          </a:xfrm>
          <a:prstGeom prst="rect">
            <a:avLst/>
          </a:prstGeom>
        </p:spPr>
      </p:pic>
      <p:pic>
        <p:nvPicPr>
          <p:cNvPr id="46" name="Resim 45">
            <a:extLst>
              <a:ext uri="{FF2B5EF4-FFF2-40B4-BE49-F238E27FC236}">
                <a16:creationId xmlns:a16="http://schemas.microsoft.com/office/drawing/2014/main" id="{09610BCE-5D4A-4EE5-B622-F4966BFE854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82444" y="4866179"/>
            <a:ext cx="1924050" cy="409575"/>
          </a:xfrm>
          <a:prstGeom prst="rect">
            <a:avLst/>
          </a:prstGeom>
        </p:spPr>
      </p:pic>
      <p:pic>
        <p:nvPicPr>
          <p:cNvPr id="48" name="Resim 47">
            <a:extLst>
              <a:ext uri="{FF2B5EF4-FFF2-40B4-BE49-F238E27FC236}">
                <a16:creationId xmlns:a16="http://schemas.microsoft.com/office/drawing/2014/main" id="{45984A66-B71B-44E1-B058-DDF15573E43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77275" y="5551159"/>
            <a:ext cx="25622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3A25671E-C75A-43C8-91C7-F9043466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68" y="254088"/>
            <a:ext cx="1638300" cy="45720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88E28765-1121-41E2-8942-1F12A6CE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68" y="843222"/>
            <a:ext cx="1409700" cy="5715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53218406-ECCD-422D-8B84-29259495D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583" y="273138"/>
            <a:ext cx="1847850" cy="43815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4A18E7C-0934-43B7-B8F6-0E33C2C2D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1821" y="382675"/>
            <a:ext cx="285750" cy="21907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FC54AE98-341D-4AEB-AFE3-CDDDCA993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0445" y="349338"/>
            <a:ext cx="1933575" cy="36195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29800FA4-04DC-4736-A610-01B1EF9844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4811" y="401725"/>
            <a:ext cx="304800" cy="25717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91643EFB-C7D9-4FD3-B682-0363185BEC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3504" y="931648"/>
            <a:ext cx="752475" cy="62865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C1AA9DBA-DB1D-4708-9323-30688E5B0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8109" y="1064998"/>
            <a:ext cx="876300" cy="36195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7EA0EC28-AEBA-4930-858B-30523B0BE2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5219" y="1680647"/>
            <a:ext cx="1724025" cy="333375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9895929D-AA72-4D50-85BB-7008069A0A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2050" y="2396307"/>
            <a:ext cx="2247900" cy="5429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9843D66A-F214-46F6-9297-DAE15B410D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3707" y="2562994"/>
            <a:ext cx="228600" cy="209550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EEE973A5-EE52-47ED-9CE1-9F844DF780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7717" y="273138"/>
            <a:ext cx="1885950" cy="38100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CB7D294B-EFF0-4DF6-9353-305EFD0535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2149" y="843222"/>
            <a:ext cx="3228975" cy="31432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02AEF455-41E5-4592-A8A3-A9EC218EFD7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2149" y="1284073"/>
            <a:ext cx="2876550" cy="285750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9CC66288-9D6E-4E76-AB10-B77228655C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33161" y="1754402"/>
            <a:ext cx="1914525" cy="400050"/>
          </a:xfrm>
          <a:prstGeom prst="rect">
            <a:avLst/>
          </a:prstGeom>
        </p:spPr>
      </p:pic>
      <p:sp>
        <p:nvSpPr>
          <p:cNvPr id="32" name="Metin kutusu 31">
            <a:extLst>
              <a:ext uri="{FF2B5EF4-FFF2-40B4-BE49-F238E27FC236}">
                <a16:creationId xmlns:a16="http://schemas.microsoft.com/office/drawing/2014/main" id="{A263E6B6-A0D1-4AE7-8BC6-B541D0712E09}"/>
              </a:ext>
            </a:extLst>
          </p:cNvPr>
          <p:cNvSpPr txBox="1"/>
          <p:nvPr/>
        </p:nvSpPr>
        <p:spPr>
          <a:xfrm>
            <a:off x="8452149" y="2154452"/>
            <a:ext cx="33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Heriki</a:t>
            </a:r>
            <a:r>
              <a:rPr lang="tr-TR" dirty="0"/>
              <a:t> tarafın logaritmasını alalım</a:t>
            </a:r>
          </a:p>
        </p:txBody>
      </p:sp>
      <p:pic>
        <p:nvPicPr>
          <p:cNvPr id="34" name="Resim 33">
            <a:extLst>
              <a:ext uri="{FF2B5EF4-FFF2-40B4-BE49-F238E27FC236}">
                <a16:creationId xmlns:a16="http://schemas.microsoft.com/office/drawing/2014/main" id="{55BFED63-873C-4959-B809-18337A7BF7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6166" y="2743969"/>
            <a:ext cx="1123950" cy="390525"/>
          </a:xfrm>
          <a:prstGeom prst="rect">
            <a:avLst/>
          </a:prstGeom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C3645994-0BCF-42EA-A702-43EBAD5731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19049" y="2739081"/>
            <a:ext cx="714375" cy="304800"/>
          </a:xfrm>
          <a:prstGeom prst="rect">
            <a:avLst/>
          </a:prstGeom>
        </p:spPr>
      </p:pic>
      <p:pic>
        <p:nvPicPr>
          <p:cNvPr id="38" name="Resim 37">
            <a:extLst>
              <a:ext uri="{FF2B5EF4-FFF2-40B4-BE49-F238E27FC236}">
                <a16:creationId xmlns:a16="http://schemas.microsoft.com/office/drawing/2014/main" id="{8804620D-A4F4-422A-8AEF-1983EDB4A41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73947" y="2820168"/>
            <a:ext cx="238125" cy="238125"/>
          </a:xfrm>
          <a:prstGeom prst="rect">
            <a:avLst/>
          </a:prstGeom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B733CC8F-B598-4DE6-ADE0-F70B8DF9A3E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13322" y="368387"/>
            <a:ext cx="228600" cy="247650"/>
          </a:xfrm>
          <a:prstGeom prst="rect">
            <a:avLst/>
          </a:prstGeom>
        </p:spPr>
      </p:pic>
      <p:pic>
        <p:nvPicPr>
          <p:cNvPr id="44" name="Resim 43">
            <a:extLst>
              <a:ext uri="{FF2B5EF4-FFF2-40B4-BE49-F238E27FC236}">
                <a16:creationId xmlns:a16="http://schemas.microsoft.com/office/drawing/2014/main" id="{0E0713AC-EDFD-4C64-A128-E66137C1F3B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6068" y="4296420"/>
            <a:ext cx="1685925" cy="390525"/>
          </a:xfrm>
          <a:prstGeom prst="rect">
            <a:avLst/>
          </a:prstGeom>
        </p:spPr>
      </p:pic>
      <p:pic>
        <p:nvPicPr>
          <p:cNvPr id="48" name="Resim 47">
            <a:extLst>
              <a:ext uri="{FF2B5EF4-FFF2-40B4-BE49-F238E27FC236}">
                <a16:creationId xmlns:a16="http://schemas.microsoft.com/office/drawing/2014/main" id="{82208060-27C1-4BBD-9055-0DE370C7B28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666" y="4825573"/>
            <a:ext cx="2381250" cy="666750"/>
          </a:xfrm>
          <a:prstGeom prst="rect">
            <a:avLst/>
          </a:prstGeom>
        </p:spPr>
      </p:pic>
      <p:pic>
        <p:nvPicPr>
          <p:cNvPr id="50" name="Resim 49">
            <a:extLst>
              <a:ext uri="{FF2B5EF4-FFF2-40B4-BE49-F238E27FC236}">
                <a16:creationId xmlns:a16="http://schemas.microsoft.com/office/drawing/2014/main" id="{887E7461-E618-4916-9CCE-528C413A97F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0918" y="4439295"/>
            <a:ext cx="247650" cy="247650"/>
          </a:xfrm>
          <a:prstGeom prst="rect">
            <a:avLst/>
          </a:prstGeom>
        </p:spPr>
      </p:pic>
      <p:pic>
        <p:nvPicPr>
          <p:cNvPr id="52" name="Resim 51">
            <a:extLst>
              <a:ext uri="{FF2B5EF4-FFF2-40B4-BE49-F238E27FC236}">
                <a16:creationId xmlns:a16="http://schemas.microsoft.com/office/drawing/2014/main" id="{5294AF93-2E86-4F7F-9C54-1C08C2DDF91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16884" y="4115701"/>
            <a:ext cx="2181225" cy="447675"/>
          </a:xfrm>
          <a:prstGeom prst="rect">
            <a:avLst/>
          </a:prstGeom>
        </p:spPr>
      </p:pic>
      <p:pic>
        <p:nvPicPr>
          <p:cNvPr id="54" name="Resim 53">
            <a:extLst>
              <a:ext uri="{FF2B5EF4-FFF2-40B4-BE49-F238E27FC236}">
                <a16:creationId xmlns:a16="http://schemas.microsoft.com/office/drawing/2014/main" id="{DB2FB332-E6F5-42F2-9D76-CE31146AB0C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93034" y="5199360"/>
            <a:ext cx="2943225" cy="438150"/>
          </a:xfrm>
          <a:prstGeom prst="rect">
            <a:avLst/>
          </a:prstGeom>
        </p:spPr>
      </p:pic>
      <p:sp>
        <p:nvSpPr>
          <p:cNvPr id="56" name="Metin kutusu 55">
            <a:extLst>
              <a:ext uri="{FF2B5EF4-FFF2-40B4-BE49-F238E27FC236}">
                <a16:creationId xmlns:a16="http://schemas.microsoft.com/office/drawing/2014/main" id="{EBC038A9-8F3C-41DC-B57C-AAE9971F08B1}"/>
              </a:ext>
            </a:extLst>
          </p:cNvPr>
          <p:cNvSpPr txBox="1"/>
          <p:nvPr/>
        </p:nvSpPr>
        <p:spPr>
          <a:xfrm>
            <a:off x="3053791" y="4572495"/>
            <a:ext cx="4707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Hatırlatma: n sayısı 2’ler kulesi olsun. </a:t>
            </a:r>
          </a:p>
          <a:p>
            <a:r>
              <a:rPr lang="tr-TR" dirty="0"/>
              <a:t>n ile </a:t>
            </a:r>
            <a:r>
              <a:rPr lang="tr-TR" dirty="0" err="1"/>
              <a:t>lg</a:t>
            </a:r>
            <a:r>
              <a:rPr lang="tr-TR" dirty="0"/>
              <a:t> n ‘</a:t>
            </a:r>
            <a:r>
              <a:rPr lang="tr-TR" dirty="0" err="1"/>
              <a:t>inkule</a:t>
            </a:r>
            <a:r>
              <a:rPr lang="tr-TR" dirty="0"/>
              <a:t> </a:t>
            </a:r>
            <a:r>
              <a:rPr lang="tr-TR" dirty="0" err="1"/>
              <a:t>yüksekikleri</a:t>
            </a:r>
            <a:r>
              <a:rPr lang="tr-TR" dirty="0"/>
              <a:t> arasındaki fark 1’dir. </a:t>
            </a:r>
          </a:p>
        </p:txBody>
      </p:sp>
      <p:pic>
        <p:nvPicPr>
          <p:cNvPr id="58" name="Resim 57">
            <a:extLst>
              <a:ext uri="{FF2B5EF4-FFF2-40B4-BE49-F238E27FC236}">
                <a16:creationId xmlns:a16="http://schemas.microsoft.com/office/drawing/2014/main" id="{ED881E8E-0E5D-4B98-8DF0-EF2F08FE15D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25854" y="4296420"/>
            <a:ext cx="24765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2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Resim 21">
            <a:extLst>
              <a:ext uri="{FF2B5EF4-FFF2-40B4-BE49-F238E27FC236}">
                <a16:creationId xmlns:a16="http://schemas.microsoft.com/office/drawing/2014/main" id="{D17BEDD8-9C35-4325-8F97-DF204A10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68" y="3890057"/>
            <a:ext cx="2581275" cy="638175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6C2146BD-AB3F-4AE2-869C-0C855A037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856" y="855318"/>
            <a:ext cx="3219450" cy="60007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B6BBD460-5541-4174-B8C7-1FA620782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79" y="1956868"/>
            <a:ext cx="1800225" cy="71437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79FEFE70-E8BA-4F3D-8D82-8C02785D3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67" y="487063"/>
            <a:ext cx="2000250" cy="75247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AAAFCA2-0FD2-42A6-BFD9-12CD56851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618" y="3528236"/>
            <a:ext cx="3628373" cy="7524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107CB303-67FB-43AD-BEA5-C39B8ABE77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40" y="759165"/>
            <a:ext cx="476250" cy="44767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F2E65422-8FCC-4927-A1F0-A07B8ABFB5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2252" y="2302988"/>
            <a:ext cx="314325" cy="28575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2369A6AE-7854-4DE8-9EAB-3E3E525B01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3897" y="1026768"/>
            <a:ext cx="390525" cy="428625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C1092ECF-59D0-4C5B-9F92-1DBBD5FD55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8590" y="4015424"/>
            <a:ext cx="361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EA13C0E-7DE6-46D2-BBA5-3AB1A9AC0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25" y="950569"/>
            <a:ext cx="4600575" cy="16287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0C255A4B-05BB-4046-908D-6BFA70A47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44" y="1279181"/>
            <a:ext cx="47529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8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134</Words>
  <Application>Microsoft Office PowerPoint</Application>
  <PresentationFormat>Geniş ekran</PresentationFormat>
  <Paragraphs>29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Teması</vt:lpstr>
      <vt:lpstr>Algoritma Analizi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Sau</dc:creator>
  <cp:lastModifiedBy>Sau</cp:lastModifiedBy>
  <cp:revision>32</cp:revision>
  <dcterms:created xsi:type="dcterms:W3CDTF">2026-03-04T13:46:05Z</dcterms:created>
  <dcterms:modified xsi:type="dcterms:W3CDTF">2026-03-10T21:25:20Z</dcterms:modified>
</cp:coreProperties>
</file>